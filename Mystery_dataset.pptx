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6218"/>
  </p:normalViewPr>
  <p:slideViewPr>
    <p:cSldViewPr snapToGrid="0">
      <p:cViewPr varScale="1">
        <p:scale>
          <a:sx n="48" d="100"/>
          <a:sy n="48" d="100"/>
        </p:scale>
        <p:origin x="192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3BF-E421-FA05-844C-47DB64084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9D3C4-2851-B827-82B7-305555B6F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64966-09E7-8C82-2A2C-402E242E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5ADA5-5FE7-EC84-934D-54F68770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2DA58-31BB-0B4D-7248-9C8C4B6A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4206-AC0D-5EB4-DD40-F45797F1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648D-7451-A257-1FE3-B6E673735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89A7-ADC4-BC77-B4BD-56587F73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EEC33-B3D7-72BC-F42B-45D3B343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7E48-0542-93D0-6257-34D3A36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872F-3069-0809-30DD-8D959CA6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A4B6C-AAE6-E3EC-1D74-2A9E1D0A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6D07-C53C-D36C-BE5F-29ABAB20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2C4E-C99D-2DAB-1AD1-7F91DCF0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94A2-4861-F0D3-E989-CA2E5121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4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E00A-ECBA-CDE4-C0B4-98EC0076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FDB57-5AEC-206D-DE3F-569252702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C24AB-3F21-DCB2-4B54-0B24C0E26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CA115-D2DD-EC85-8A2C-E5AD1867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0AAF7-DB41-A3EA-34F6-04867CA8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9EDB9-F9CF-789E-6BB9-2EE27FD2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58EC-457E-30DE-56FC-0302096A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66C23-B2F5-6645-2164-A4776C8A8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A4CC7-F5D2-60F2-2893-15E4692C1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EAD13-B20B-4412-CFE2-6C19EEB55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0D323-EFAC-D575-135A-C4091BEB0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A76BF-E98F-B227-71EC-3BCB0102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44464-A476-72D1-DFAA-874E277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DC477-8DF7-C037-F478-4F5A4580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43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1CB7-8785-2E50-2614-93784399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78AA3-BA90-D0D3-F17B-E587B464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5EA52-B359-B8DC-B213-D5592235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BA3EF-037B-DC78-CAB2-CFCB41B5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5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83D4F-5A1A-1817-AA72-FF29B795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3053B-F60E-5C74-712F-57B13DE3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8F166-0B1F-E2D5-E92F-0628DCC4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1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A45DF-8484-A964-B7FD-2CD67F29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6527-9F90-BCA4-A228-D9CF1313E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DF5C2-B6A7-72D3-E4BB-3D57DCB9B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C9085-1DA2-F7A2-9B2E-0F6D73D5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04E3C-D5A9-2E3E-3B93-E20A92D2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439E0-5052-EA68-7043-4B862545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2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0459-D255-4BFD-6FC6-D3FB1686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BE29F-7D52-D9AD-D913-5063E18A3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7C583-1C55-10CF-E367-FFF72B5C2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8A1A2-D931-B90A-1CA3-D8F29E29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42994-0B2B-D6DC-5563-1EAE507E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7906F-B26B-2ED9-EA45-DC453AE8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1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C2B0-CCC7-CDD5-5A8A-11897119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63C3E-D752-9B8B-738D-C58665983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21D6-AA75-A2DB-416A-DF3DA7E8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290D-6961-9511-C3F0-4C31AD8E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3EC47-4757-026F-2C23-EEB8C8EE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5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EB51E-9E12-11DF-7A0E-9E6CDB35F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A5EB2-EAA8-4F82-FBA2-BAEEE16D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85055-3623-833F-8235-93074670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5B0FA-76DB-17EC-3F83-2AE37F00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3058C-3D5D-0F17-E738-680BB9C1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6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9489E-0CF2-5E8F-9E30-B5469F75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E6C4A-8EDC-6D2E-DB59-35F03E6E0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4615E-4683-5A9B-33A2-F6C209854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1B61-3206-2B4A-907B-7F252F96A74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0C8F5-5B13-4EF6-087F-E6D6F237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6653-8D14-7219-7F31-0C53FCCC3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1FB33-A04C-D842-BD40-04FED823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7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mfleming/lab_retreat_202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A5CE-D302-78A5-AEBC-0AA61E442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Mystery dataset</a:t>
            </a:r>
          </a:p>
        </p:txBody>
      </p:sp>
    </p:spTree>
    <p:extLst>
      <p:ext uri="{BB962C8B-B14F-4D97-AF65-F5344CB8AC3E}">
        <p14:creationId xmlns:p14="http://schemas.microsoft.com/office/powerpoint/2010/main" val="240961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DEEC-C7FC-F4F6-9FE3-C38C82B5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mystery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1496-6744-16E9-7461-B11B9300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groups of subjects took part in a perceptual metacognition experiment </a:t>
            </a:r>
          </a:p>
          <a:p>
            <a:r>
              <a:rPr lang="en-US" dirty="0"/>
              <a:t>Dot density discrimination task + confidence ratings </a:t>
            </a:r>
          </a:p>
          <a:p>
            <a:r>
              <a:rPr lang="en-US" dirty="0"/>
              <a:t>Assume that the stimulus strength / difficulty was roughly constant across trials </a:t>
            </a:r>
          </a:p>
          <a:p>
            <a:r>
              <a:rPr lang="en-US" dirty="0"/>
              <a:t>4 blocks of 100 trials per subject </a:t>
            </a:r>
          </a:p>
        </p:txBody>
      </p:sp>
    </p:spTree>
    <p:extLst>
      <p:ext uri="{BB962C8B-B14F-4D97-AF65-F5344CB8AC3E}">
        <p14:creationId xmlns:p14="http://schemas.microsoft.com/office/powerpoint/2010/main" val="243157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DEEC-C7FC-F4F6-9FE3-C38C82B5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mystery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1496-6744-16E9-7461-B11B9300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from: </a:t>
            </a:r>
            <a:r>
              <a:rPr lang="en-US" dirty="0">
                <a:hlinkClick r:id="rId2"/>
              </a:rPr>
              <a:t>https://github.com/smfleming/lab_retreat_2026</a:t>
            </a:r>
            <a:r>
              <a:rPr lang="en-US" dirty="0"/>
              <a:t> </a:t>
            </a:r>
          </a:p>
          <a:p>
            <a:r>
              <a:rPr lang="en-US" dirty="0" err="1"/>
              <a:t>Organised</a:t>
            </a:r>
            <a:r>
              <a:rPr lang="en-US" dirty="0"/>
              <a:t> in a csv table:</a:t>
            </a:r>
          </a:p>
          <a:p>
            <a:pPr lvl="1"/>
            <a:r>
              <a:rPr lang="en-US" dirty="0"/>
              <a:t>60 subjects </a:t>
            </a:r>
          </a:p>
          <a:p>
            <a:pPr lvl="1"/>
            <a:r>
              <a:rPr lang="en-US" dirty="0"/>
              <a:t>2 groups (N=30 per group)</a:t>
            </a:r>
          </a:p>
          <a:p>
            <a:pPr lvl="1"/>
            <a:r>
              <a:rPr lang="en-US" dirty="0"/>
              <a:t>4 blocks (100 trials per block)</a:t>
            </a:r>
          </a:p>
          <a:p>
            <a:pPr lvl="1"/>
            <a:r>
              <a:rPr lang="en-US" dirty="0"/>
              <a:t>Stimulus (0 or 1)</a:t>
            </a:r>
          </a:p>
          <a:p>
            <a:pPr lvl="1"/>
            <a:r>
              <a:rPr lang="en-US" dirty="0"/>
              <a:t>Response (0 or 1)</a:t>
            </a:r>
          </a:p>
          <a:p>
            <a:pPr lvl="1"/>
            <a:r>
              <a:rPr lang="en-US" dirty="0"/>
              <a:t>Confidence (1-4)</a:t>
            </a:r>
          </a:p>
        </p:txBody>
      </p:sp>
    </p:spTree>
    <p:extLst>
      <p:ext uri="{BB962C8B-B14F-4D97-AF65-F5344CB8AC3E}">
        <p14:creationId xmlns:p14="http://schemas.microsoft.com/office/powerpoint/2010/main" val="200205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DEEC-C7FC-F4F6-9FE3-C38C82B5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1496-6744-16E9-7461-B11B93002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Explore the data, plot out </a:t>
            </a:r>
            <a:r>
              <a:rPr lang="en-US" dirty="0" err="1"/>
              <a:t>descriptives</a:t>
            </a:r>
            <a:r>
              <a:rPr lang="en-US" dirty="0"/>
              <a:t> </a:t>
            </a:r>
          </a:p>
          <a:p>
            <a:r>
              <a:rPr lang="en-US" dirty="0"/>
              <a:t>Discuss what it might mean</a:t>
            </a:r>
          </a:p>
          <a:p>
            <a:pPr lvl="1"/>
            <a:r>
              <a:rPr lang="en-US" dirty="0"/>
              <a:t>On a psychological level, what might be going on? What might be causing differences between the groups?</a:t>
            </a:r>
          </a:p>
          <a:p>
            <a:pPr lvl="1"/>
            <a:r>
              <a:rPr lang="en-US" dirty="0"/>
              <a:t>On a computational level, how would you model these pattern(s)? What factors could be driving these effect(s)?</a:t>
            </a:r>
          </a:p>
          <a:p>
            <a:pPr lvl="1"/>
            <a:r>
              <a:rPr lang="en-US" dirty="0"/>
              <a:t>What alternative candidate models would you consider? How would you go about writing down and fitting the models?</a:t>
            </a:r>
          </a:p>
        </p:txBody>
      </p:sp>
    </p:spTree>
    <p:extLst>
      <p:ext uri="{BB962C8B-B14F-4D97-AF65-F5344CB8AC3E}">
        <p14:creationId xmlns:p14="http://schemas.microsoft.com/office/powerpoint/2010/main" val="4911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DEEC-C7FC-F4F6-9FE3-C38C82B5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1496-6744-16E9-7461-B11B93002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986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Nominate one person from the group as rapporteur </a:t>
            </a:r>
          </a:p>
          <a:p>
            <a:r>
              <a:rPr lang="en-US" dirty="0"/>
              <a:t>Keep it simple – whiteboard only! </a:t>
            </a:r>
          </a:p>
          <a:p>
            <a:r>
              <a:rPr lang="en-US" dirty="0"/>
              <a:t>No need to actually code up / fit your model(s), just discuss how they might be formulated </a:t>
            </a:r>
          </a:p>
          <a:p>
            <a:r>
              <a:rPr lang="en-US" dirty="0"/>
              <a:t>All modeling frameworks are fair game!</a:t>
            </a:r>
          </a:p>
          <a:p>
            <a:r>
              <a:rPr lang="en-US" dirty="0"/>
              <a:t>(Judicious) AI use also fair game</a:t>
            </a:r>
          </a:p>
          <a:p>
            <a:r>
              <a:rPr lang="en-US" dirty="0"/>
              <a:t>Stay high-level and conceptual – this is not an exercise in getting the right statistics / regression model; instead, it’s an exercise in thinking about which factors might generate particular data patterns </a:t>
            </a:r>
          </a:p>
          <a:p>
            <a:r>
              <a:rPr lang="en-US" dirty="0"/>
              <a:t>Good luck! </a:t>
            </a:r>
          </a:p>
        </p:txBody>
      </p:sp>
    </p:spTree>
    <p:extLst>
      <p:ext uri="{BB962C8B-B14F-4D97-AF65-F5344CB8AC3E}">
        <p14:creationId xmlns:p14="http://schemas.microsoft.com/office/powerpoint/2010/main" val="423795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269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Mystery dataset</vt:lpstr>
      <vt:lpstr>The mystery experiment</vt:lpstr>
      <vt:lpstr>The mystery data</vt:lpstr>
      <vt:lpstr>Your mission</vt:lpstr>
      <vt:lpstr>Reporting 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dataset</dc:title>
  <dc:creator>Stephen Fleming</dc:creator>
  <cp:lastModifiedBy>Stephen Fleming</cp:lastModifiedBy>
  <cp:revision>31</cp:revision>
  <dcterms:created xsi:type="dcterms:W3CDTF">2026-05-16T19:34:46Z</dcterms:created>
  <dcterms:modified xsi:type="dcterms:W3CDTF">2026-05-16T20:08:33Z</dcterms:modified>
</cp:coreProperties>
</file>